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3d0a4b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3d0a4b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3d0a4ba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d3d0a4ba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d3d0a4ba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d3d0a4b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d3d0a4ba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d3d0a4ba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3d0a4ba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d3d0a4ba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79bc41e9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779bc41e9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d3d0a4ba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d3d0a4ba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3d0a4ba3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3d0a4ba3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3d0a4ba3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d3d0a4ba3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nuki-susanti/zipplo-mini-projec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Zipplo</a:t>
            </a:r>
            <a:br>
              <a:rPr lang="fi"/>
            </a:br>
            <a:r>
              <a:rPr lang="fi"/>
              <a:t>Data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Amina Imamovic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Dennis Sitnic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Lauri Immonen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Nuki Susanti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Business scenario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i"/>
              <a:t>Zipplo is an imaginary light vehicle rental company operating across Germany, Sweden and Finland, serving both private and corporate customers with electric mopeds, scooters, bicycles, and kickboards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Project overview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i"/>
              <a:t>Design and implement an operational database to support the rental business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i"/>
              <a:t>Design a dimensional data warehouse (star schema) optimized for analytical reporting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i"/>
              <a:t>Implement SQL-based ETL scripts to load the data warehouse from the operational database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i"/>
              <a:t>Validate the system using rental transactions spanning six years of synthetic test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i"/>
              <a:t>Build Power BI reports to answer real business questions across time, equipment, location, and customer segments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Project Management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Adopted a Scrum-like project management framework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Product Backlog managed in Trello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One-week Sprint kicked off on Friday, May 29th with a joint backlog creation session and initial planning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Backlog broken down into four items, each divided into smaller tasks assignable to one or two team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Each day started with a Daily standup to align and plan ahead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Tasks were typically completed in 1–2 hour focused sessions, followed by team syncs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Project Management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550" y="1310176"/>
            <a:ext cx="7351599" cy="308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Git &amp; Documentation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 u="sng">
                <a:solidFill>
                  <a:schemeClr val="hlink"/>
                </a:solidFill>
                <a:hlinkClick r:id="rId3"/>
              </a:rPr>
              <a:t>https://github.com/nuki-susanti/zipplo-mini-project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GitHub used as the central repository for SQL scripts, Power BI reports and project documentation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Repository structure organized into three main areas: sql/operational/, sql/datawarehouse/ and reports/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Full README written to document the data model, ETL process and instructions for running the pipeline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278725" y="181250"/>
            <a:ext cx="8520600" cy="4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i" sz="1800">
                <a:solidFill>
                  <a:srgbClr val="FFFFFF"/>
                </a:solidFill>
              </a:rPr>
              <a:t>Operational Database - OLTP — ZipploDB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906000" y="304625"/>
            <a:ext cx="40335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i" sz="1200"/>
              <a:t>The source operational database (ZipploDB) is normalized and covers the following entities:</a:t>
            </a:r>
            <a:endParaRPr sz="120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75" y="585250"/>
            <a:ext cx="4624401" cy="430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000" y="857225"/>
            <a:ext cx="4111601" cy="16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4906000" y="2682575"/>
            <a:ext cx="4111500" cy="23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fi" sz="1140"/>
              <a:t>Key modeling decisions</a:t>
            </a:r>
            <a:endParaRPr sz="1140"/>
          </a:p>
          <a:p>
            <a:pPr indent="-156040" lvl="0" marL="90000" rtl="0" algn="l">
              <a:spcBef>
                <a:spcPts val="1200"/>
              </a:spcBef>
              <a:spcAft>
                <a:spcPts val="0"/>
              </a:spcAft>
              <a:buSzPts val="1040"/>
              <a:buChar char="-"/>
            </a:pPr>
            <a:r>
              <a:rPr lang="fi" sz="1040"/>
              <a:t>Equipment vs EquipmentUnit — Equipment holds the type/model information shared across the fleet; EquipmentUnit represents each individual physical device. This cleanly separates catalog data from fleet management data.</a:t>
            </a:r>
            <a:endParaRPr sz="1040"/>
          </a:p>
          <a:p>
            <a:pPr indent="-156040" lvl="0" marL="90000" rtl="0" algn="l">
              <a:spcBef>
                <a:spcPts val="0"/>
              </a:spcBef>
              <a:spcAft>
                <a:spcPts val="0"/>
              </a:spcAft>
              <a:buSzPts val="1040"/>
              <a:buChar char="-"/>
            </a:pPr>
            <a:r>
              <a:rPr lang="fi" sz="1040"/>
              <a:t>RentalPlace covers both staffed stores and unstaffed stations using a type column, avoiding two separate tables for the same location concept.</a:t>
            </a:r>
            <a:endParaRPr sz="1040"/>
          </a:p>
          <a:p>
            <a:pPr indent="-156040" lvl="0" marL="90000" rtl="0" algn="l">
              <a:spcBef>
                <a:spcPts val="0"/>
              </a:spcBef>
              <a:spcAft>
                <a:spcPts val="0"/>
              </a:spcAft>
              <a:buSzPts val="1040"/>
              <a:buChar char="-"/>
            </a:pPr>
            <a:r>
              <a:rPr lang="fi" sz="1040"/>
              <a:t>Pricing is stored on Equipment as price_per_minute and applied against actual duration, keeping the billed amount in RentalTransaction fully auditable.</a:t>
            </a:r>
            <a:endParaRPr sz="104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278725" y="181250"/>
            <a:ext cx="8520600" cy="4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i" sz="1800">
                <a:solidFill>
                  <a:srgbClr val="FFFFFF"/>
                </a:solidFill>
              </a:rPr>
              <a:t>OLAP - Data Warehouse (ZipploDW)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4906000" y="304625"/>
            <a:ext cx="4111500" cy="27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fi" sz="1140"/>
              <a:t>The data warehouse follows a star schema with one central fact table and four dimension tables, optimized for analytical queries and Power BI reporting.</a:t>
            </a:r>
            <a:endParaRPr sz="114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fi" sz="1140"/>
              <a:t>Fact table grain: </a:t>
            </a:r>
            <a:r>
              <a:rPr i="1" lang="fi" sz="1140"/>
              <a:t>One row per rental transaction</a:t>
            </a:r>
            <a:r>
              <a:rPr lang="fi" sz="1140"/>
              <a:t>.</a:t>
            </a:r>
            <a:endParaRPr sz="114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fi" sz="1140"/>
              <a:t>Each row in fact_rental represents a single completed rental and stores foreign keys to all relevant dimensions plus the additive measures needed for analysis:</a:t>
            </a:r>
            <a:endParaRPr sz="1140"/>
          </a:p>
          <a:p>
            <a:pPr indent="-300990" lvl="0" marL="457200" rtl="0" algn="l">
              <a:spcBef>
                <a:spcPts val="1200"/>
              </a:spcBef>
              <a:spcAft>
                <a:spcPts val="0"/>
              </a:spcAft>
              <a:buSzPts val="1140"/>
              <a:buChar char="-"/>
            </a:pPr>
            <a:r>
              <a:rPr lang="fi" sz="1140"/>
              <a:t>(rental) amount</a:t>
            </a:r>
            <a:endParaRPr sz="1140"/>
          </a:p>
          <a:p>
            <a:pPr indent="-300990" lvl="0" marL="457200" rtl="0" algn="l">
              <a:spcBef>
                <a:spcPts val="0"/>
              </a:spcBef>
              <a:spcAft>
                <a:spcPts val="0"/>
              </a:spcAft>
              <a:buSzPts val="1140"/>
              <a:buChar char="-"/>
            </a:pPr>
            <a:r>
              <a:rPr lang="fi" sz="1140"/>
              <a:t>duration (start time - end time)</a:t>
            </a:r>
            <a:endParaRPr sz="1140"/>
          </a:p>
          <a:p>
            <a:pPr indent="-300990" lvl="0" marL="457200" rtl="0" algn="l">
              <a:spcBef>
                <a:spcPts val="0"/>
              </a:spcBef>
              <a:spcAft>
                <a:spcPts val="0"/>
              </a:spcAft>
              <a:buSzPts val="1140"/>
              <a:buChar char="-"/>
            </a:pPr>
            <a:r>
              <a:rPr lang="fi" sz="1140"/>
              <a:t>km (rental distance)</a:t>
            </a:r>
            <a:endParaRPr sz="1140"/>
          </a:p>
          <a:p>
            <a:pPr indent="-300990" lvl="0" marL="457200" rtl="0" algn="l">
              <a:spcBef>
                <a:spcPts val="0"/>
              </a:spcBef>
              <a:spcAft>
                <a:spcPts val="0"/>
              </a:spcAft>
              <a:buSzPts val="1140"/>
              <a:buChar char="-"/>
            </a:pPr>
            <a:r>
              <a:rPr lang="fi" sz="1140"/>
              <a:t>count (rental count) </a:t>
            </a:r>
            <a:endParaRPr sz="1140"/>
          </a:p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3">
            <a:alphaModFix/>
          </a:blip>
          <a:srcRect b="-3143" l="2501" r="3470" t="4630"/>
          <a:stretch/>
        </p:blipFill>
        <p:spPr>
          <a:xfrm>
            <a:off x="148375" y="634250"/>
            <a:ext cx="4624400" cy="450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1825" y="3222925"/>
            <a:ext cx="3999850" cy="178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Flow Chart - Data Pipeline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00" y="1622525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736300" y="2195225"/>
            <a:ext cx="57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 sz="800">
                <a:solidFill>
                  <a:schemeClr val="lt2"/>
                </a:solidFill>
              </a:rPr>
              <a:t>csv files</a:t>
            </a:r>
            <a:endParaRPr sz="800">
              <a:solidFill>
                <a:schemeClr val="lt2"/>
              </a:solidFill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0025" y="1622525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3847825" y="2195225"/>
            <a:ext cx="73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 sz="800">
                <a:solidFill>
                  <a:schemeClr val="lt2"/>
                </a:solidFill>
              </a:rPr>
              <a:t>ZipploDB</a:t>
            </a:r>
            <a:br>
              <a:rPr lang="fi" sz="800">
                <a:solidFill>
                  <a:schemeClr val="lt2"/>
                </a:solidFill>
              </a:rPr>
            </a:br>
            <a:r>
              <a:rPr lang="fi" sz="800">
                <a:solidFill>
                  <a:schemeClr val="lt2"/>
                </a:solidFill>
              </a:rPr>
              <a:t>(OLTP)</a:t>
            </a:r>
            <a:endParaRPr sz="800">
              <a:solidFill>
                <a:schemeClr val="lt2"/>
              </a:solidFill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9500" y="1622525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2287300" y="2195225"/>
            <a:ext cx="73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 sz="800">
                <a:solidFill>
                  <a:schemeClr val="lt2"/>
                </a:solidFill>
              </a:rPr>
              <a:t>Staging </a:t>
            </a:r>
            <a:br>
              <a:rPr lang="fi" sz="800">
                <a:solidFill>
                  <a:schemeClr val="lt2"/>
                </a:solidFill>
              </a:rPr>
            </a:br>
            <a:r>
              <a:rPr lang="fi" sz="800">
                <a:solidFill>
                  <a:schemeClr val="lt2"/>
                </a:solidFill>
              </a:rPr>
              <a:t>Tables</a:t>
            </a:r>
            <a:endParaRPr sz="800">
              <a:solidFill>
                <a:schemeClr val="lt2"/>
              </a:solidFill>
            </a:endParaRPr>
          </a:p>
        </p:txBody>
      </p:sp>
      <p:pic>
        <p:nvPicPr>
          <p:cNvPr id="108" name="Google Shape;108;p20" title="003-database-tab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8775" y="1622537"/>
            <a:ext cx="608225" cy="6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5624338" y="2195225"/>
            <a:ext cx="73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 sz="800">
                <a:solidFill>
                  <a:schemeClr val="lt2"/>
                </a:solidFill>
              </a:rPr>
              <a:t>ZipploDW</a:t>
            </a:r>
            <a:br>
              <a:rPr lang="fi" sz="800">
                <a:solidFill>
                  <a:schemeClr val="lt2"/>
                </a:solidFill>
              </a:rPr>
            </a:br>
            <a:r>
              <a:rPr lang="fi" sz="800">
                <a:solidFill>
                  <a:schemeClr val="lt2"/>
                </a:solidFill>
              </a:rPr>
              <a:t>(OLAP)</a:t>
            </a:r>
            <a:endParaRPr sz="800">
              <a:solidFill>
                <a:schemeClr val="lt2"/>
              </a:solidFill>
            </a:endParaRPr>
          </a:p>
        </p:txBody>
      </p:sp>
      <p:pic>
        <p:nvPicPr>
          <p:cNvPr id="110" name="Google Shape;110;p20" title="power-bi-ic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0850" y="1622525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/>
          <p:nvPr/>
        </p:nvSpPr>
        <p:spPr>
          <a:xfrm>
            <a:off x="1421950" y="1729250"/>
            <a:ext cx="834600" cy="39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 sz="800"/>
              <a:t>bulk insert</a:t>
            </a:r>
            <a:endParaRPr sz="800"/>
          </a:p>
        </p:txBody>
      </p:sp>
      <p:sp>
        <p:nvSpPr>
          <p:cNvPr id="112" name="Google Shape;112;p20"/>
          <p:cNvSpPr/>
          <p:nvPr/>
        </p:nvSpPr>
        <p:spPr>
          <a:xfrm>
            <a:off x="2961038" y="1729250"/>
            <a:ext cx="969000" cy="39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 sz="800"/>
              <a:t>data ingestion</a:t>
            </a:r>
            <a:endParaRPr sz="800"/>
          </a:p>
        </p:txBody>
      </p:sp>
      <p:sp>
        <p:nvSpPr>
          <p:cNvPr id="113" name="Google Shape;113;p20"/>
          <p:cNvSpPr/>
          <p:nvPr/>
        </p:nvSpPr>
        <p:spPr>
          <a:xfrm>
            <a:off x="4591450" y="1675850"/>
            <a:ext cx="1008600" cy="50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 sz="800"/>
              <a:t>ETL and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 sz="800"/>
              <a:t>Validation</a:t>
            </a:r>
            <a:endParaRPr sz="800"/>
          </a:p>
        </p:txBody>
      </p:sp>
      <p:sp>
        <p:nvSpPr>
          <p:cNvPr id="114" name="Google Shape;114;p20"/>
          <p:cNvSpPr/>
          <p:nvPr/>
        </p:nvSpPr>
        <p:spPr>
          <a:xfrm>
            <a:off x="6364425" y="1658075"/>
            <a:ext cx="969000" cy="50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 sz="800"/>
              <a:t>data consumption</a:t>
            </a:r>
            <a:endParaRPr sz="800"/>
          </a:p>
        </p:txBody>
      </p:sp>
      <p:sp>
        <p:nvSpPr>
          <p:cNvPr id="115" name="Google Shape;115;p20"/>
          <p:cNvSpPr txBox="1"/>
          <p:nvPr/>
        </p:nvSpPr>
        <p:spPr>
          <a:xfrm>
            <a:off x="7434975" y="2256875"/>
            <a:ext cx="57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 sz="800">
                <a:solidFill>
                  <a:schemeClr val="lt2"/>
                </a:solidFill>
              </a:rPr>
              <a:t>Report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385375" y="3086150"/>
            <a:ext cx="30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 sz="1800">
                <a:solidFill>
                  <a:schemeClr val="lt2"/>
                </a:solidFill>
              </a:rPr>
              <a:t>Master Script for Automation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325" y="3615650"/>
            <a:ext cx="3558900" cy="7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29797" y="3457275"/>
            <a:ext cx="4702503" cy="98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273975" y="248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Validation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75" y="1548025"/>
            <a:ext cx="25622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735825" y="1000650"/>
            <a:ext cx="230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i" sz="1000">
                <a:solidFill>
                  <a:schemeClr val="lt2"/>
                </a:solidFill>
              </a:rPr>
              <a:t>1. Row Count Check </a:t>
            </a:r>
            <a:endParaRPr b="1" sz="1000">
              <a:solidFill>
                <a:schemeClr val="lt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i" sz="1000">
                <a:solidFill>
                  <a:schemeClr val="lt2"/>
                </a:solidFill>
              </a:rPr>
              <a:t>(Source vs. Target)</a:t>
            </a:r>
            <a:endParaRPr b="1"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5429663" y="1000650"/>
            <a:ext cx="24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i" sz="1000">
                <a:solidFill>
                  <a:schemeClr val="lt2"/>
                </a:solidFill>
              </a:rPr>
              <a:t>2. Customer Totals </a:t>
            </a:r>
            <a:endParaRPr b="1" sz="1000">
              <a:solidFill>
                <a:schemeClr val="lt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i" sz="1000">
                <a:solidFill>
                  <a:schemeClr val="lt2"/>
                </a:solidFill>
              </a:rPr>
              <a:t>Discrepancy Check</a:t>
            </a:r>
            <a:endParaRPr b="1" sz="1000">
              <a:solidFill>
                <a:schemeClr val="lt2"/>
              </a:solidFill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151" y="1548025"/>
            <a:ext cx="371552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8525" y="2679550"/>
            <a:ext cx="29813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7250" y="3503175"/>
            <a:ext cx="25812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97500" y="3465450"/>
            <a:ext cx="318017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/>
          <p:nvPr/>
        </p:nvSpPr>
        <p:spPr>
          <a:xfrm>
            <a:off x="1969150" y="2763738"/>
            <a:ext cx="881400" cy="24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What could we do better next time?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Consider naming </a:t>
            </a:r>
            <a:r>
              <a:rPr lang="fi"/>
              <a:t>conventions</a:t>
            </a:r>
            <a:r>
              <a:rPr lang="fi"/>
              <a:t> from the beginning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Leveraging the full potential of Git / GitHub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